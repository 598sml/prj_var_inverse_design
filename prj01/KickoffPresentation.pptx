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12" r:id="rId2"/>
    <p:sldId id="40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284B"/>
    <a:srgbClr val="46CF72"/>
    <a:srgbClr val="1A8EBE"/>
    <a:srgbClr val="FD5F00"/>
    <a:srgbClr val="0C1C57"/>
    <a:srgbClr val="FF5F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37"/>
    <p:restoredTop sz="96652" autoAdjust="0"/>
  </p:normalViewPr>
  <p:slideViewPr>
    <p:cSldViewPr snapToGrid="0">
      <p:cViewPr varScale="1">
        <p:scale>
          <a:sx n="91" d="100"/>
          <a:sy n="91" d="100"/>
        </p:scale>
        <p:origin x="69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30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87F3AF-1F3A-1675-D106-000960B713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1B3AB-3FEF-033A-64CE-0A5802812E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26A19-01F3-F34F-8699-7A1C071F930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7C088-0AA5-C044-80FD-DE80F9A60A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8DEE4-D76F-1826-DA49-6A7D00911A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F2289-1B98-B74A-AEBC-B44B84F1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501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BAA33-C0A4-9346-AAF1-BAD43E000F9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535E0-CBDD-BC4C-BD4F-9919692E8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96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C8887-735A-6A46-BAB5-15E231F9B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7D7C9-7101-8701-947B-C46A89A02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BCB75-D605-4106-F823-E83F71DC3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4B8F4-921A-BF72-64C9-CE1C27622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93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28AF6EC-2DA8-4051-4521-C28C2621BE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12284B"/>
                </a:solidFill>
              </a:defRPr>
            </a:lvl1pPr>
          </a:lstStyle>
          <a:p>
            <a:fld id="{2385DA76-2DD3-144A-9C84-6B8D9531DA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University of Illinois Urbana-Champaign primary word mark in orange and blue.">
            <a:extLst>
              <a:ext uri="{FF2B5EF4-FFF2-40B4-BE49-F238E27FC236}">
                <a16:creationId xmlns:a16="http://schemas.microsoft.com/office/drawing/2014/main" id="{EB0D2710-CEFD-3A60-4C94-6B1CE04DCA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5153" y="4938363"/>
            <a:ext cx="3322081" cy="57103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143592-E971-CB6A-6DFF-098820B14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5153" y="4468357"/>
            <a:ext cx="8622959" cy="16587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372DCC6-6153-84C1-32E8-77D38EF08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153" y="3799107"/>
            <a:ext cx="8622960" cy="365122"/>
          </a:xfrm>
        </p:spPr>
        <p:txBody>
          <a:bodyPr/>
          <a:lstStyle>
            <a:lvl1pPr marL="0" indent="0" algn="l">
              <a:buNone/>
              <a:defRPr sz="2400" b="0" i="1">
                <a:latin typeface="Georgia" panose="02040502050405020303" pitchFamily="18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6EF8E7-B6BA-01FE-BB3F-7F247742BE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5153" y="6404700"/>
            <a:ext cx="2743200" cy="268424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rgbClr val="12284B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mm/dd/</a:t>
            </a:r>
            <a:r>
              <a:rPr lang="en-US" dirty="0" err="1"/>
              <a:t>yyyy</a:t>
            </a:r>
            <a:endParaRPr lang="en-US" dirty="0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C6114CDB-A767-CA89-47A1-11B03F2E4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153" y="652021"/>
            <a:ext cx="8622960" cy="2776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7200"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10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484D1ADD-7F58-0308-A75B-55AF06E0816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8669" y="5541473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4  </a:t>
            </a:r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4F99D5A3-9EE8-6F0B-F613-53117C5175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28280" y="3589840"/>
            <a:ext cx="2293390" cy="1841500"/>
          </a:xfrm>
        </p:spPr>
        <p:txBody>
          <a:bodyPr>
            <a:noAutofit/>
          </a:bodyPr>
          <a:lstStyle>
            <a:lvl1pPr marL="0" indent="0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4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052D6F14-F4AA-294A-1461-5B105AD3E3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39705" y="5541473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3  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1524EB3-3433-4EAE-124B-DDDAAE7B47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39316" y="3589840"/>
            <a:ext cx="2293390" cy="1841500"/>
          </a:xfrm>
        </p:spPr>
        <p:txBody>
          <a:bodyPr>
            <a:noAutofit/>
          </a:bodyPr>
          <a:lstStyle>
            <a:lvl1pPr marL="0" indent="0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3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8C6202E-22E1-1CAB-8FC0-4B2468C00C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01008" y="5541473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2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397A470-D532-D100-12F4-5ADF34AAD5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00343" y="3589840"/>
            <a:ext cx="2292350" cy="18415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153B245-FFE5-FB4F-DAB8-DDA247EFA5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2310" y="5528410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1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7FDDA93-62FA-0462-F0EB-4E4C9CB9AA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2310" y="3585680"/>
            <a:ext cx="2345933" cy="1841316"/>
          </a:xfrm>
        </p:spPr>
        <p:txBody>
          <a:bodyPr>
            <a:noAutofit/>
          </a:bodyPr>
          <a:lstStyle>
            <a:lvl1pPr marL="0" indent="0" algn="l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983E35-A2B0-6B15-C503-B109D7835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2310" y="1426660"/>
            <a:ext cx="7391400" cy="165877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59D036-DF01-E5E1-E0CA-0B168A16A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10" y="793769"/>
            <a:ext cx="7391400" cy="632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100" b="1" i="0" kern="1200" dirty="0">
                <a:solidFill>
                  <a:srgbClr val="FF5F03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935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E1F3EBA-BB56-24BC-8D2A-25A46342FA2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750067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052D6F14-F4AA-294A-1461-5B105AD3E3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27462" y="5391746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3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1524EB3-3433-4EAE-124B-DDDAAE7B47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27073" y="3440113"/>
            <a:ext cx="2293390" cy="1841500"/>
          </a:xfrm>
        </p:spPr>
        <p:txBody>
          <a:bodyPr>
            <a:noAutofit/>
          </a:bodyPr>
          <a:lstStyle>
            <a:lvl1pPr marL="0" indent="0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3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8C6202E-22E1-1CAB-8FC0-4B2468C00C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8765" y="5391746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2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397A470-D532-D100-12F4-5ADF34AAD5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8100" y="3440113"/>
            <a:ext cx="2292350" cy="18415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153B245-FFE5-FB4F-DAB8-DDA247EFA5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50067" y="5378683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1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7FDDA93-62FA-0462-F0EB-4E4C9CB9AA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50067" y="3435953"/>
            <a:ext cx="2345933" cy="1841316"/>
          </a:xfrm>
        </p:spPr>
        <p:txBody>
          <a:bodyPr>
            <a:noAutofit/>
          </a:bodyPr>
          <a:lstStyle>
            <a:lvl1pPr marL="0" indent="0" algn="l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983E35-A2B0-6B15-C503-B109D7835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62400" y="1263780"/>
            <a:ext cx="7391400" cy="165877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59D036-DF01-E5E1-E0CA-0B168A16A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630889"/>
            <a:ext cx="7391400" cy="632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100" b="1" i="0" kern="1200" dirty="0">
                <a:solidFill>
                  <a:srgbClr val="FF5F03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45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1F75B7-6486-C7B1-E57A-C53107BC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40980"/>
            <a:ext cx="10515600" cy="40337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A2C68A-AD3B-648F-D001-97B833590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8313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ot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Illinois logo in orange and blue.">
            <a:extLst>
              <a:ext uri="{FF2B5EF4-FFF2-40B4-BE49-F238E27FC236}">
                <a16:creationId xmlns:a16="http://schemas.microsoft.com/office/drawing/2014/main" id="{FB9799C6-1DC4-AC52-B0EF-85E94AF284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1BAC4EE-6D95-76BD-09BB-2C9BA247B1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95713"/>
            <a:ext cx="12192000" cy="30622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1F75B7-6486-C7B1-E57A-C53107BC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40981"/>
            <a:ext cx="10515600" cy="19182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A2C68A-AD3B-648F-D001-97B833590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9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headings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University of Illinois logo in orange and blue.">
            <a:extLst>
              <a:ext uri="{FF2B5EF4-FFF2-40B4-BE49-F238E27FC236}">
                <a16:creationId xmlns:a16="http://schemas.microsoft.com/office/drawing/2014/main" id="{CA76C48D-E684-6F3D-D086-6154DA480C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0C02E-6E37-E67C-1034-A9C78ED43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B5F54-5BFF-2C81-F5CB-2B03AB0AD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99326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01C93-AB1B-A712-278A-DEBFCF82C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7A9CC-D5F0-9DC0-F6FA-3977F73FB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99326"/>
          </a:xfrm>
        </p:spPr>
        <p:txBody>
          <a:bodyPr anchor="b"/>
          <a:lstStyle>
            <a:lvl1pPr marL="0" indent="0">
              <a:buNone/>
              <a:defRPr sz="2400" b="0" i="1">
                <a:solidFill>
                  <a:srgbClr val="FF5F03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315D4A-755E-FA95-0340-3D0AEA418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603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University of Illinois logo in orange and blue.">
            <a:extLst>
              <a:ext uri="{FF2B5EF4-FFF2-40B4-BE49-F238E27FC236}">
                <a16:creationId xmlns:a16="http://schemas.microsoft.com/office/drawing/2014/main" id="{CA76C48D-E684-6F3D-D086-6154DA480C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0C02E-6E37-E67C-1034-A9C78ED43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98171"/>
            <a:ext cx="5183188" cy="44914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01C93-AB1B-A712-278A-DEBFCF82C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8171"/>
            <a:ext cx="5157787" cy="44914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315D4A-755E-FA95-0340-3D0AEA418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346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University of Illinois logo in orange and blue.">
            <a:extLst>
              <a:ext uri="{FF2B5EF4-FFF2-40B4-BE49-F238E27FC236}">
                <a16:creationId xmlns:a16="http://schemas.microsoft.com/office/drawing/2014/main" id="{CA76C48D-E684-6F3D-D086-6154DA480C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ACE78D9-A165-7D43-2B39-962B735A8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40980"/>
            <a:ext cx="10515600" cy="40337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315D4A-755E-FA95-0340-3D0AEA418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070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University of Illinois logo in orange and blue.">
            <a:extLst>
              <a:ext uri="{FF2B5EF4-FFF2-40B4-BE49-F238E27FC236}">
                <a16:creationId xmlns:a16="http://schemas.microsoft.com/office/drawing/2014/main" id="{CA76C48D-E684-6F3D-D086-6154DA480C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1EE3AD37-BD56-155C-4E92-8552CE45EBE7}"/>
              </a:ext>
            </a:extLst>
          </p:cNvPr>
          <p:cNvSpPr/>
          <p:nvPr userDrawn="1"/>
        </p:nvSpPr>
        <p:spPr>
          <a:xfrm>
            <a:off x="1618024" y="2942445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D5AA1D-CE2F-5558-245F-3F1C03B3B28A}"/>
              </a:ext>
            </a:extLst>
          </p:cNvPr>
          <p:cNvSpPr/>
          <p:nvPr userDrawn="1"/>
        </p:nvSpPr>
        <p:spPr>
          <a:xfrm>
            <a:off x="3886771" y="2928308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66F6DE-CA40-6914-2F07-867ECFEE7D9A}"/>
              </a:ext>
            </a:extLst>
          </p:cNvPr>
          <p:cNvSpPr/>
          <p:nvPr userDrawn="1"/>
        </p:nvSpPr>
        <p:spPr>
          <a:xfrm>
            <a:off x="6181398" y="2928308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C65960C-E050-D410-2DA2-25B7898B898C}"/>
              </a:ext>
            </a:extLst>
          </p:cNvPr>
          <p:cNvSpPr/>
          <p:nvPr userDrawn="1"/>
        </p:nvSpPr>
        <p:spPr>
          <a:xfrm>
            <a:off x="8450145" y="2936934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CCA00D-4612-8333-644C-E649C90A2F2C}"/>
              </a:ext>
            </a:extLst>
          </p:cNvPr>
          <p:cNvCxnSpPr>
            <a:cxnSpLocks/>
          </p:cNvCxnSpPr>
          <p:nvPr userDrawn="1"/>
        </p:nvCxnSpPr>
        <p:spPr>
          <a:xfrm>
            <a:off x="1785191" y="3107695"/>
            <a:ext cx="6835715" cy="0"/>
          </a:xfrm>
          <a:prstGeom prst="line">
            <a:avLst/>
          </a:prstGeom>
          <a:ln w="38100">
            <a:solidFill>
              <a:srgbClr val="122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1246520-80AB-BE75-3ACC-86881EF850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9499" y="4513587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F0FC4DC-6E88-C1A6-C45D-98BE7D1AF6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59499" y="3610721"/>
            <a:ext cx="1893983" cy="792698"/>
          </a:xfrm>
        </p:spPr>
        <p:txBody>
          <a:bodyPr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E38F62B-961D-0DE7-9EC1-0973D5D819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9007" y="4513587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57E2C8C-337A-FC09-DE74-4A56AAF7AB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9008" y="3599705"/>
            <a:ext cx="1893983" cy="792698"/>
          </a:xfrm>
        </p:spPr>
        <p:txBody>
          <a:bodyPr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3D59774-0105-B649-B9FA-AF68838B97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7499" y="4513587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494172-3C9A-E31F-E28C-0462436A05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98516" y="3599188"/>
            <a:ext cx="1893983" cy="792698"/>
          </a:xfrm>
        </p:spPr>
        <p:txBody>
          <a:bodyPr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E2E4B6E-A490-12A1-BB7C-79359243F4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8024" y="4513587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75C42-1321-F93A-90B0-48A69D1400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8024" y="3588171"/>
            <a:ext cx="1893983" cy="792698"/>
          </a:xfrm>
        </p:spPr>
        <p:txBody>
          <a:bodyPr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315D4A-755E-FA95-0340-3D0AEA418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6375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ACD718-4AC5-4437-372C-9BFDE6E1F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351" y="0"/>
            <a:ext cx="1219835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82AAB0-BE16-27C1-9291-40558CB428E1}"/>
              </a:ext>
            </a:extLst>
          </p:cNvPr>
          <p:cNvSpPr/>
          <p:nvPr userDrawn="1"/>
        </p:nvSpPr>
        <p:spPr>
          <a:xfrm>
            <a:off x="220344" y="193407"/>
            <a:ext cx="11744960" cy="6471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University of Illinois logo in orange and blue.">
            <a:extLst>
              <a:ext uri="{FF2B5EF4-FFF2-40B4-BE49-F238E27FC236}">
                <a16:creationId xmlns:a16="http://schemas.microsoft.com/office/drawing/2014/main" id="{CA76C48D-E684-6F3D-D086-6154DA480C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F6B9E74-4DC9-A3FF-B140-E52A35301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40980"/>
            <a:ext cx="10515600" cy="40337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368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University of Illinois logo in orange and blue.">
            <a:extLst>
              <a:ext uri="{FF2B5EF4-FFF2-40B4-BE49-F238E27FC236}">
                <a16:creationId xmlns:a16="http://schemas.microsoft.com/office/drawing/2014/main" id="{CA76C48D-E684-6F3D-D086-6154DA480C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67AD1D-2BD7-6CB0-774A-8E8BBD8F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7086" y="0"/>
            <a:ext cx="4484914" cy="365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B1CB65-7A46-633C-27F3-358B7D18A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70108" y="365125"/>
            <a:ext cx="421892" cy="3678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9EFD2-6051-90B6-2E4E-2739363BF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212"/>
          <a:stretch/>
        </p:blipFill>
        <p:spPr>
          <a:xfrm>
            <a:off x="0" y="6481152"/>
            <a:ext cx="1969477" cy="3768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7C6A0E-68A3-2A66-BB32-3E8553668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3791" y="-40182"/>
            <a:ext cx="421891" cy="1498844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61C9DF8-B379-B2C4-9014-4E77E0C720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13930" y="3678736"/>
            <a:ext cx="5164137" cy="365119"/>
          </a:xfrm>
        </p:spPr>
        <p:txBody>
          <a:bodyPr>
            <a:normAutofit/>
          </a:bodyPr>
          <a:lstStyle>
            <a:lvl1pPr marL="0" indent="0" algn="ctr">
              <a:buNone/>
              <a:defRPr sz="18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- First name Last name, 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E9ACC9EA-B20D-A53D-F291-E50DBE59C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882169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600" b="0" i="1" kern="1200" dirty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“Quote”</a:t>
            </a:r>
          </a:p>
        </p:txBody>
      </p:sp>
    </p:spTree>
    <p:extLst>
      <p:ext uri="{BB962C8B-B14F-4D97-AF65-F5344CB8AC3E}">
        <p14:creationId xmlns:p14="http://schemas.microsoft.com/office/powerpoint/2010/main" val="3528273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86A5D-AAD4-1143-623B-CC25F95D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University of Illinois logo in orange and blue.">
            <a:extLst>
              <a:ext uri="{FF2B5EF4-FFF2-40B4-BE49-F238E27FC236}">
                <a16:creationId xmlns:a16="http://schemas.microsoft.com/office/drawing/2014/main" id="{EC77BD5E-99B2-5F18-B181-1BF451ECF9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03E025-14CF-5564-829B-B0440DB80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D2CD750-36DB-0D73-74E0-6BDC0B38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009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87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30FBF-1394-4B2F-259A-7BBAA5666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2284B"/>
                </a:solidFill>
                <a:latin typeface="Georgia" panose="02040502050405020303" pitchFamily="18" charset="0"/>
              </a:defRPr>
            </a:lvl1pPr>
          </a:lstStyle>
          <a:p>
            <a:fld id="{2385DA76-2DD3-144A-9C84-6B8D9531DA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7884A-98FD-E13E-88CA-52A9BB3B5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697BB7-053E-8DA9-7A56-8DC39FE27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490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85" r:id="rId2"/>
    <p:sldLayoutId id="2147483679" r:id="rId3"/>
    <p:sldLayoutId id="2147483660" r:id="rId4"/>
    <p:sldLayoutId id="2147483684" r:id="rId5"/>
    <p:sldLayoutId id="2147483653" r:id="rId6"/>
    <p:sldLayoutId id="2147483683" r:id="rId7"/>
    <p:sldLayoutId id="2147483686" r:id="rId8"/>
    <p:sldLayoutId id="2147483688" r:id="rId9"/>
    <p:sldLayoutId id="2147483687" r:id="rId10"/>
    <p:sldLayoutId id="2147483663" r:id="rId11"/>
    <p:sldLayoutId id="2147483654" r:id="rId12"/>
    <p:sldLayoutId id="214748368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FF5F03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E3FBA-C23E-8056-4F90-522FCAD78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81F284-60AB-D3E4-6AC9-F431DD62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240" y="6356350"/>
            <a:ext cx="543560" cy="365125"/>
          </a:xfrm>
        </p:spPr>
        <p:txBody>
          <a:bodyPr/>
          <a:lstStyle/>
          <a:p>
            <a:fld id="{2385DA76-2DD3-144A-9C84-6B8D9531DA2D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291975-D052-2788-A27D-EC918829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684"/>
            <a:ext cx="9972041" cy="599096"/>
          </a:xfrm>
        </p:spPr>
        <p:txBody>
          <a:bodyPr>
            <a:noAutofit/>
          </a:bodyPr>
          <a:lstStyle/>
          <a:p>
            <a:r>
              <a:rPr lang="en-US" sz="2000" dirty="0"/>
              <a:t>Visual Autoregressive Models for Inverse Design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4082C654-C8C0-0F57-C521-518A8D1EF3E4}"/>
              </a:ext>
            </a:extLst>
          </p:cNvPr>
          <p:cNvSpPr txBox="1">
            <a:spLocks/>
          </p:cNvSpPr>
          <p:nvPr/>
        </p:nvSpPr>
        <p:spPr>
          <a:xfrm>
            <a:off x="269032" y="1432473"/>
            <a:ext cx="11653935" cy="49238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1. Problem</a:t>
            </a:r>
          </a:p>
          <a:p>
            <a:r>
              <a:rPr lang="en-US" sz="1400" dirty="0"/>
              <a:t>The inverse design of metamaterial unit cells aims to </a:t>
            </a:r>
            <a:r>
              <a:rPr lang="en-US" sz="1400" b="1" dirty="0"/>
              <a:t>generate geometries that achieve a target stress–strain response</a:t>
            </a:r>
            <a:r>
              <a:rPr lang="en-US" sz="1400" dirty="0"/>
              <a:t>.</a:t>
            </a:r>
          </a:p>
          <a:p>
            <a:r>
              <a:rPr lang="en-US" sz="1400" dirty="0"/>
              <a:t>The current framework uses </a:t>
            </a:r>
            <a:r>
              <a:rPr lang="en-US" sz="1400" b="1" dirty="0"/>
              <a:t>diffusion models</a:t>
            </a:r>
            <a:r>
              <a:rPr lang="en-US" sz="1400" dirty="0"/>
              <a:t> to generate Signed Distance Function (SDF) representations of metamaterial geometries conditioned on the desired mechanical behavior.</a:t>
            </a:r>
          </a:p>
          <a:p>
            <a:r>
              <a:rPr lang="en-US" sz="1400" dirty="0"/>
              <a:t>However, diffusion models require </a:t>
            </a:r>
            <a:r>
              <a:rPr lang="en-US" sz="1400" b="1" dirty="0"/>
              <a:t>many denoising steps during sampling</a:t>
            </a:r>
            <a:r>
              <a:rPr lang="en-US" sz="1400" dirty="0"/>
              <a:t>, making generation relatively slow and computationally expensive.</a:t>
            </a:r>
          </a:p>
          <a:p>
            <a:pPr marL="0" indent="0">
              <a:buNone/>
            </a:pPr>
            <a:r>
              <a:rPr lang="en-US" sz="1400" b="1" dirty="0"/>
              <a:t>2. Proposed Approach</a:t>
            </a:r>
          </a:p>
          <a:p>
            <a:r>
              <a:rPr lang="en-US" sz="1400" dirty="0"/>
              <a:t>Replace the diffusion model used for inverse design with a </a:t>
            </a:r>
            <a:r>
              <a:rPr lang="en-US" sz="1400" b="1" dirty="0"/>
              <a:t>VAR generative model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b="1" dirty="0"/>
              <a:t>3. Evaluation Strategy</a:t>
            </a:r>
          </a:p>
          <a:p>
            <a:r>
              <a:rPr lang="en-US" sz="1400" dirty="0"/>
              <a:t>Generated designs will be evaluated using the same </a:t>
            </a:r>
            <a:r>
              <a:rPr lang="en-US" sz="1400" b="1" dirty="0"/>
              <a:t>closed-loop framework</a:t>
            </a:r>
            <a:r>
              <a:rPr lang="en-US" sz="1400" dirty="0"/>
              <a:t> used in the original paper:</a:t>
            </a:r>
          </a:p>
          <a:p>
            <a:r>
              <a:rPr lang="en-US" sz="1400" b="1" dirty="0"/>
              <a:t>Forward surrogate model (Neural Operator Transformer)</a:t>
            </a:r>
            <a:r>
              <a:rPr lang="en-US" sz="1400" dirty="0"/>
              <a:t> predicts the stress–strain curve of generated geometries.</a:t>
            </a:r>
          </a:p>
          <a:p>
            <a:r>
              <a:rPr lang="en-US" sz="1400" dirty="0"/>
              <a:t>Compute L₂ relative error between the target stress–strain curve and predicted curve.</a:t>
            </a:r>
          </a:p>
          <a:p>
            <a:r>
              <a:rPr lang="en-US" sz="1400" dirty="0"/>
              <a:t>Validate top designs using finite element simulations (FEM).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817FCA-2F9F-CA26-ED68-56AF62165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139" y="4590307"/>
            <a:ext cx="3517322" cy="21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95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B764-4833-ABA6-7B8A-40B69352B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B2A972-A649-63FF-4EFA-5403ACCF4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0024AD-8394-CC65-F9A6-BC9B68568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Visual Autoregressive Models for Inverse Design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A678BE-A3E7-9EA3-7EE4-DD4632ECC3AB}"/>
              </a:ext>
            </a:extLst>
          </p:cNvPr>
          <p:cNvSpPr txBox="1">
            <a:spLocks/>
          </p:cNvSpPr>
          <p:nvPr/>
        </p:nvSpPr>
        <p:spPr>
          <a:xfrm>
            <a:off x="838200" y="1555712"/>
            <a:ext cx="10691191" cy="3746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4D6D5E-A146-FAD1-18FD-A21709298D92}"/>
              </a:ext>
            </a:extLst>
          </p:cNvPr>
          <p:cNvSpPr txBox="1">
            <a:spLocks/>
          </p:cNvSpPr>
          <p:nvPr/>
        </p:nvSpPr>
        <p:spPr>
          <a:xfrm>
            <a:off x="838200" y="1518645"/>
            <a:ext cx="10860573" cy="35385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Diffusion models are </a:t>
            </a:r>
            <a:r>
              <a:rPr lang="en-US" sz="1400" b="1" dirty="0"/>
              <a:t>generative models that learn to generate data by reversing a gradual noise process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dirty="0"/>
              <a:t>Forward process: progressively corrupt data with Gaussian noise.</a:t>
            </a:r>
          </a:p>
          <a:p>
            <a:pPr marL="0" indent="0">
              <a:buNone/>
            </a:pPr>
            <a:r>
              <a:rPr lang="en-US" sz="1400" dirty="0"/>
              <a:t>Reverse process: train a neural network to remove the noise step-by-step to reconstruct the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E20989-5C1A-5B61-8442-7F5755E2D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495" y="2464510"/>
            <a:ext cx="5096221" cy="10857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51C5D1-162E-EEAD-64D3-527C751EF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67476"/>
            <a:ext cx="4981208" cy="6901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26DDFC-5619-E7EC-A9A3-9EDE9C31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157602"/>
            <a:ext cx="2012366" cy="9293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253D990-EC05-908B-113C-E05FDBCFB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302287"/>
            <a:ext cx="3345398" cy="15099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A2AEF3-450E-63C7-3296-2A874432F9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495" y="3812539"/>
            <a:ext cx="4386420" cy="224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49534"/>
      </p:ext>
    </p:extLst>
  </p:cSld>
  <p:clrMapOvr>
    <a:masterClrMapping/>
  </p:clrMapOvr>
</p:sld>
</file>

<file path=ppt/theme/theme1.xml><?xml version="1.0" encoding="utf-8"?>
<a:theme xmlns:a="http://schemas.openxmlformats.org/drawingml/2006/main" name="StratCom ppt">
  <a:themeElements>
    <a:clrScheme name="Illini Theme">
      <a:dk1>
        <a:srgbClr val="13294B"/>
      </a:dk1>
      <a:lt1>
        <a:srgbClr val="FEFFFF"/>
      </a:lt1>
      <a:dk2>
        <a:srgbClr val="F55F06"/>
      </a:dk2>
      <a:lt2>
        <a:srgbClr val="C8C6C7"/>
      </a:lt2>
      <a:accent1>
        <a:srgbClr val="2870CD"/>
      </a:accent1>
      <a:accent2>
        <a:srgbClr val="3CB3E4"/>
      </a:accent2>
      <a:accent3>
        <a:srgbClr val="F8B316"/>
      </a:accent3>
      <a:accent4>
        <a:srgbClr val="196130"/>
      </a:accent4>
      <a:accent5>
        <a:srgbClr val="267E8D"/>
      </a:accent5>
      <a:accent6>
        <a:srgbClr val="7C3D13"/>
      </a:accent6>
      <a:hlink>
        <a:srgbClr val="C84013"/>
      </a:hlink>
      <a:folHlink>
        <a:srgbClr val="13294B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14203</TotalTime>
  <Words>208</Words>
  <Application>Microsoft Office PowerPoint</Application>
  <PresentationFormat>Widescreen</PresentationFormat>
  <Paragraphs>19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Black</vt:lpstr>
      <vt:lpstr>Calibri</vt:lpstr>
      <vt:lpstr>Georgia</vt:lpstr>
      <vt:lpstr>Wingdings</vt:lpstr>
      <vt:lpstr>StratCom ppt</vt:lpstr>
      <vt:lpstr>Visual Autoregressive Models for Inverse Design</vt:lpstr>
      <vt:lpstr>Visual Autoregressive Models for Inverse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of the Chancellor</dc:title>
  <dc:creator>Marcum, Cassidy Leigh</dc:creator>
  <cp:lastModifiedBy>Kazemi, Hossein</cp:lastModifiedBy>
  <cp:revision>1432</cp:revision>
  <dcterms:created xsi:type="dcterms:W3CDTF">2023-11-29T19:20:00Z</dcterms:created>
  <dcterms:modified xsi:type="dcterms:W3CDTF">2026-03-10T15:14:39Z</dcterms:modified>
</cp:coreProperties>
</file>